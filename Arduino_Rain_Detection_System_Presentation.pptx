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0909B-F320-4259-ADF5-B10E7904FF5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50714-6686-43E8-8734-C1FBF53E0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50714-6686-43E8-8734-C1FBF53E0E8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016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73152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28016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64240" y="64008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92024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47120" y="219456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20" y="274320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52560" y="109728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>
            <a:off x="8549640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116567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683496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50424" y="3200400"/>
            <a:ext cx="320039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817352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960120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2ABED2"/>
                </a:solidFill>
                <a:latin typeface="Aptos"/>
              </a:rPr>
              <a:t>ARDUINO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572768"/>
            <a:ext cx="80467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RAIN DETECTION
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20440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dirty="0">
                <a:solidFill>
                  <a:srgbClr val="C7DAEB"/>
                </a:solidFill>
                <a:latin typeface="Aptos"/>
              </a:rPr>
              <a:t>A step-by-step build </a:t>
            </a:r>
            <a:r>
              <a:rPr lang="en-IN" sz="2100" dirty="0" smtClean="0">
                <a:solidFill>
                  <a:srgbClr val="C7DAEB"/>
                </a:solidFill>
                <a:latin typeface="Aptos"/>
              </a:rPr>
              <a:t>presentation</a:t>
            </a:r>
            <a:endParaRPr sz="2100" b="0" dirty="0">
              <a:solidFill>
                <a:srgbClr val="C7DAE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7680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Rain sensor  •  LED alert  •  Buzzer  •  10-second auto-off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5138928"/>
            <a:ext cx="2880360" cy="530352"/>
          </a:xfrm>
          <a:prstGeom prst="round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5294376"/>
            <a:ext cx="25877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80760"/>
            <a:ext cx="77724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0C6D9"/>
                </a:solidFill>
                <a:latin typeface="Aptos"/>
              </a:rPr>
              <a:t>Prepared for an </a:t>
            </a:r>
            <a:r>
              <a:rPr sz="1100" b="0" dirty="0" smtClean="0">
                <a:solidFill>
                  <a:srgbClr val="B0C6D9"/>
                </a:solidFill>
                <a:latin typeface="Aptos"/>
              </a:rPr>
              <a:t>academic</a:t>
            </a:r>
            <a:r>
              <a:rPr lang="en-IN" sz="1100" b="0" dirty="0" smtClean="0">
                <a:solidFill>
                  <a:srgbClr val="B0C6D9"/>
                </a:solidFill>
                <a:latin typeface="Aptos"/>
              </a:rPr>
              <a:t> </a:t>
            </a:r>
            <a:r>
              <a:rPr sz="1100" b="0" dirty="0" smtClean="0">
                <a:solidFill>
                  <a:srgbClr val="B0C6D9"/>
                </a:solidFill>
                <a:latin typeface="Aptos"/>
              </a:rPr>
              <a:t>electronics </a:t>
            </a:r>
            <a:r>
              <a:rPr sz="1100" b="0" dirty="0">
                <a:solidFill>
                  <a:srgbClr val="B0C6D9"/>
                </a:solidFill>
                <a:latin typeface="Aptos"/>
              </a:rPr>
              <a:t>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0C6D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73152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28016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64240" y="64008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92024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47120" y="219456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20" y="274320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52560" y="1097280"/>
            <a:ext cx="100584" cy="100584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>
            <a:off x="8549640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116567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683496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50424" y="3200400"/>
            <a:ext cx="320039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817352" y="3200400"/>
            <a:ext cx="320040" cy="640080"/>
          </a:xfrm>
          <a:prstGeom prst="line">
            <a:avLst/>
          </a:prstGeom>
          <a:ln w="31750">
            <a:solidFill>
              <a:srgbClr val="2A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29523"/>
            <a:ext cx="8046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Aptos"/>
              </a:rPr>
              <a:t>RAIN </a:t>
            </a:r>
            <a:r>
              <a:rPr sz="2000" b="1" dirty="0" smtClean="0">
                <a:solidFill>
                  <a:srgbClr val="FFFFFF"/>
                </a:solidFill>
                <a:latin typeface="Aptos"/>
              </a:rPr>
              <a:t>DETECTION</a:t>
            </a:r>
            <a:r>
              <a:rPr lang="en-IN" sz="2000" b="1" dirty="0" smtClean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smtClean="0">
                <a:solidFill>
                  <a:srgbClr val="FFFFFF"/>
                </a:solidFill>
                <a:latin typeface="Aptos"/>
              </a:rPr>
              <a:t>SYSTEM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0C6D9"/>
                </a:solidFill>
                <a:latin typeface="Aptos"/>
              </a:rPr>
              <a:t>01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34" y="1594124"/>
            <a:ext cx="3474146" cy="347414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228" y="0"/>
            <a:ext cx="6913947" cy="69139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3588851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515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3142"/>
                </a:solidFill>
                <a:latin typeface="Aptos"/>
              </a:rPr>
              <a:t>A small embedded system that senses water and gives a short visual + audible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2185416"/>
            <a:ext cx="54864" cy="1664208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2219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1F36"/>
                </a:solidFill>
                <a:latin typeface="Aptos"/>
              </a:rPr>
              <a:t>01  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035808" cy="11887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Rain sensor detects moisture on its sensing plate.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Arduino reads the analogue value at A0.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185416"/>
            <a:ext cx="54864" cy="1664208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2219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1F36"/>
                </a:solidFill>
                <a:latin typeface="Aptos"/>
              </a:rPr>
              <a:t>02 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70048"/>
            <a:ext cx="3035808" cy="11887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If the reading crosses the chosen threshold: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• LED turns ON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• Buzzer sounds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2185416"/>
            <a:ext cx="54864" cy="1664208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22219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1F36"/>
                </a:solidFill>
                <a:latin typeface="Aptos"/>
              </a:rPr>
              <a:t>03  AUTO-OFF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70048"/>
            <a:ext cx="3035808" cy="11887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Alarm turns OFF after 10 seconds.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System waits for the sensor to become dry before it can trigger again.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434840"/>
            <a:ext cx="10698480" cy="1005840"/>
          </a:xfrm>
          <a:prstGeom prst="roundRect">
            <a:avLst/>
          </a:prstGeom>
          <a:solidFill>
            <a:srgbClr val="FFF5DE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562855"/>
            <a:ext cx="54864" cy="749808"/>
          </a:xfrm>
          <a:prstGeom prst="rect">
            <a:avLst/>
          </a:prstGeom>
          <a:solidFill>
            <a:srgbClr val="F5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599431"/>
            <a:ext cx="1033271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PROJECT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056631"/>
            <a:ext cx="103144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Build a low-cost, beginner-friendly rain alert and learn sensor input, output control, timing, and circuit wiring.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Components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02 • PREPARE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453895"/>
            <a:ext cx="54864" cy="1316736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Arduino 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476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Main controller; reads the sensor and controls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53895"/>
            <a:ext cx="54864" cy="1316736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Rain sensor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476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Sensing plate + module; use AO for analogue readings.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258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1453895"/>
            <a:ext cx="54864" cy="1316736"/>
          </a:xfrm>
          <a:prstGeom prst="rect">
            <a:avLst/>
          </a:prstGeom>
          <a:solidFill>
            <a:srgbClr val="F5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Active buzzer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9476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Provides audible alert. Code below assumes an active buzzer.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3832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8" y="3511296"/>
            <a:ext cx="54864" cy="1316736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5478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Small LED + 220Ω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0050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Visual alert; resistor limits current through the 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3832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8" y="3511296"/>
            <a:ext cx="54864" cy="1316736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35478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Breadboard + jumpers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0050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Temporary connections without soldering.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383280"/>
            <a:ext cx="3383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5008" y="3511296"/>
            <a:ext cx="54864" cy="1316736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66176" y="35478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USB cable / power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005072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Upload code and power the Arduino during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623560"/>
            <a:ext cx="10698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34F"/>
                </a:solidFill>
                <a:latin typeface="Aptos"/>
              </a:rPr>
              <a:t>Optional: a high-power white torch LED is different from a small indicator LED and needs a suitable driver and power supply.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How the system is connected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03 •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39696"/>
            <a:ext cx="54864" cy="1252728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76272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RAIN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33472"/>
            <a:ext cx="203911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Water / moisture
Analogue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0116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00600" y="2139696"/>
            <a:ext cx="54864" cy="1252728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01768" y="2176272"/>
            <a:ext cx="2148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ARDUINO 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633472"/>
            <a:ext cx="213055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Reads A0
Runs decision + timer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2344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1362456"/>
            <a:ext cx="54864" cy="1069848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8" y="139903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856232"/>
            <a:ext cx="194767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Visual alert
D8 through resistor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0632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3191256"/>
            <a:ext cx="54864" cy="1069848"/>
          </a:xfrm>
          <a:prstGeom prst="rect">
            <a:avLst/>
          </a:prstGeom>
          <a:solidFill>
            <a:srgbClr val="F5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16568" y="322783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BUZZER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3685032"/>
            <a:ext cx="194767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Sound alert
D3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0" y="2761488"/>
            <a:ext cx="1600200" cy="0"/>
          </a:xfrm>
          <a:prstGeom prst="line">
            <a:avLst/>
          </a:prstGeom>
          <a:ln w="317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315200" y="1901952"/>
            <a:ext cx="1600200" cy="585216"/>
          </a:xfrm>
          <a:prstGeom prst="line">
            <a:avLst/>
          </a:prstGeom>
          <a:ln w="317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2971800"/>
            <a:ext cx="1600200" cy="731520"/>
          </a:xfrm>
          <a:prstGeom prst="line">
            <a:avLst/>
          </a:prstGeom>
          <a:ln w="317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Power and GND are shared appropriately; all modules must share a common GND.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486400"/>
            <a:ext cx="9784080" cy="530352"/>
          </a:xfrm>
          <a:prstGeom prst="roundRect">
            <a:avLst/>
          </a:prstGeom>
          <a:solidFill>
            <a:srgbClr val="DEEF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88720" y="5614416"/>
            <a:ext cx="54864" cy="274319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89888" y="5650992"/>
            <a:ext cx="941831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SIGNAL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6108192"/>
            <a:ext cx="940003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Sensor reading → threshold check → outputs ON → 10-second timer → outputs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Wiring: make each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04 •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298448"/>
          <a:ext cx="106984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977639"/>
                <a:gridCol w="429768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/ PIN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CONNECT TO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Rain sensor VCC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5V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Power for sensor module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Rain sensor GND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GND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Common ground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Rain sensor AO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A0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Analogue sensor reading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Buzzer +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D3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Active buzzer control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Buzzer −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GND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Return path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D8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220Ω resistor → LED long leg (+)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LED current limited by resistor</a:t>
                      </a:r>
                    </a:p>
                  </a:txBody>
                  <a:tcPr marL="109728" marR="73152">
                    <a:solidFill>
                      <a:srgbClr val="DEEF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LED short leg (−)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Arduino GND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Ground connection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70448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34F"/>
                </a:solidFill>
                <a:latin typeface="Aptos"/>
              </a:rPr>
              <a:t>LED rule: long leg = positive; short leg = GND. Do not omit the resistor.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Breadboard and safe wiring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04 •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453895"/>
            <a:ext cx="54864" cy="1572768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49047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Use the ground 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4773168" cy="1097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Connect one Arduino GND pin to the breadboard’s negative (−) rail.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Connect the sensor, buzzer, LED and other GND wires to that rail.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Check that separate rails are linked if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1453895"/>
            <a:ext cx="54864" cy="1572768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49047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Protect the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773168" cy="1097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Power off before changing wiring.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Use a 220Ω resistor in series with the small LED.</a:t>
            </a:r>
          </a:p>
          <a:p>
            <a:pPr>
              <a:spcAft>
                <a:spcPts val="500"/>
              </a:spcAft>
              <a:defRPr sz="1300" b="0">
                <a:solidFill>
                  <a:srgbClr val="243142"/>
                </a:solidFill>
                <a:latin typeface="Aptos"/>
              </a:defRPr>
            </a:pPr>
            <a:r>
              <a:t>Never connect a battery directly to the 5V pin unless it is a regulated 5V supply.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566160"/>
            <a:ext cx="5120640" cy="1554480"/>
          </a:xfrm>
          <a:prstGeom prst="roundRect">
            <a:avLst/>
          </a:prstGeom>
          <a:solidFill>
            <a:srgbClr val="FFF5DE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8" y="3694176"/>
            <a:ext cx="54864" cy="1298448"/>
          </a:xfrm>
          <a:prstGeom prst="rect">
            <a:avLst/>
          </a:prstGeom>
          <a:solidFill>
            <a:srgbClr val="F5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73075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About a white torch 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87952"/>
            <a:ext cx="473659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A high-power torch LED must not be driven directly from D8. It may need a suitable transistor/MOSFET driver, current limiting, and an appropriate external supply.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66160"/>
            <a:ext cx="5120640" cy="1554480"/>
          </a:xfrm>
          <a:prstGeom prst="roundRect">
            <a:avLst/>
          </a:prstGeom>
          <a:solidFill>
            <a:srgbClr val="DEEF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3694176"/>
            <a:ext cx="54864" cy="1298448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373075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About the buzzer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87952"/>
            <a:ext cx="473659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This example assumes an active buzzer that sounds when driven HIGH. A passive buzzer may need tone() / noTone(). Avoid drawing excessive current from an Arduino pin.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Program logic: from water to alarm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05 •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2057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72768"/>
            <a:ext cx="191109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START /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Set D3, D8 as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057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572768"/>
            <a:ext cx="191109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READ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828800"/>
            <a:ext cx="1911095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Read analogue A0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63040"/>
            <a:ext cx="2057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2" y="1572768"/>
            <a:ext cx="191109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CHECK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1828800"/>
            <a:ext cx="1911095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dirty="0">
                <a:solidFill>
                  <a:srgbClr val="5E6F82"/>
                </a:solidFill>
                <a:latin typeface="Aptos"/>
              </a:rPr>
              <a:t>Is value &lt; </a:t>
            </a:r>
            <a:r>
              <a:rPr lang="en-IN" sz="1000" b="0" dirty="0" smtClean="0">
                <a:solidFill>
                  <a:srgbClr val="5E6F82"/>
                </a:solidFill>
                <a:latin typeface="Aptos"/>
              </a:rPr>
              <a:t>1000</a:t>
            </a:r>
            <a:r>
              <a:rPr sz="1000" b="0" dirty="0" smtClean="0">
                <a:solidFill>
                  <a:srgbClr val="5E6F82"/>
                </a:solidFill>
                <a:latin typeface="Aptos"/>
              </a:rPr>
              <a:t>?</a:t>
            </a:r>
            <a:endParaRPr sz="1000" b="0" dirty="0">
              <a:solidFill>
                <a:srgbClr val="5E6F8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58200" y="1463040"/>
            <a:ext cx="2743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1572768"/>
            <a:ext cx="2596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START ALARM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828800"/>
            <a:ext cx="25968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If not already started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703320"/>
            <a:ext cx="2743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3813048"/>
            <a:ext cx="2596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10 SECONDS ELAPSED?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069080"/>
            <a:ext cx="25968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Turn LED + buzzer 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703320"/>
            <a:ext cx="27432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19472" y="3813048"/>
            <a:ext cx="2596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SENSOR DRY?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4069080"/>
            <a:ext cx="259689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Reset for next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703320"/>
            <a:ext cx="2468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3813048"/>
            <a:ext cx="232257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F36"/>
                </a:solidFill>
                <a:latin typeface="Aptos"/>
              </a:rPr>
              <a:t>REPEAT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069080"/>
            <a:ext cx="232257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6F82"/>
                </a:solidFill>
                <a:latin typeface="Aptos"/>
              </a:rPr>
              <a:t>Read again after 100 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34640" y="1865376"/>
            <a:ext cx="502920" cy="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94960" y="1865376"/>
            <a:ext cx="502920" cy="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55279" y="1865376"/>
            <a:ext cx="502921" cy="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29800" y="2267712"/>
            <a:ext cx="0" cy="1435608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589520" y="4096512"/>
            <a:ext cx="868680" cy="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566160" y="4096512"/>
            <a:ext cx="1280160" cy="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31720" y="2331720"/>
            <a:ext cx="0" cy="1371600"/>
          </a:xfrm>
          <a:prstGeom prst="line">
            <a:avLst/>
          </a:prstGeom>
          <a:ln w="2286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166360"/>
            <a:ext cx="106984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Important behavior: after the alarm times out, it stays OFF while the sensor remains wet. It rearms only after the reading returns to the dry range.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Arduino code (1/2): setup and 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06 •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34440"/>
            <a:ext cx="10698480" cy="4800600"/>
          </a:xfrm>
          <a:prstGeom prst="round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10149840" cy="569386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Consolas"/>
              </a:rPr>
              <a:t>#define BUZZER_PIN 3
#define LED_PIN 8
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bool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alarmStarted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 false;
unsigned long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alarmStartTime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 0;
void setup()
{
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pinMode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(BUZZER_PIN, OUTPUT);
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pinMode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(LED_PIN, OUTPUT);
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Serial.begin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(9600);
}
void loop()
{
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int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sensorValue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analogRead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(A0);
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Serial.println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sensorValue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);
  // Start only once when wet is first detected
  if (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sensorValue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&lt; </a:t>
            </a:r>
            <a:r>
              <a:rPr lang="en-IN" sz="1400" dirty="0" smtClean="0">
                <a:solidFill>
                  <a:srgbClr val="FFFFFF"/>
                </a:solidFill>
                <a:latin typeface="Consolas"/>
              </a:rPr>
              <a:t>10</a:t>
            </a:r>
            <a:r>
              <a:rPr sz="1400" b="0" dirty="0" smtClean="0">
                <a:solidFill>
                  <a:srgbClr val="FFFFFF"/>
                </a:solidFill>
                <a:latin typeface="Consolas"/>
              </a:rPr>
              <a:t>00 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&amp;&amp;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alarmStarted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== false)
  {
  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alarmStarted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 true;
  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alarmStartTime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 =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millis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();
  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(LED_PIN, HIGH);
    </a:t>
            </a:r>
            <a:r>
              <a:rPr sz="14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400" b="0" dirty="0">
                <a:solidFill>
                  <a:srgbClr val="FFFFFF"/>
                </a:solidFill>
                <a:latin typeface="Consolas"/>
              </a:rPr>
              <a:t>(BUZZER_PIN, HIGH);
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Arduino code (2/2): timeout and reset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06 •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34440"/>
            <a:ext cx="10698480" cy="3246120"/>
          </a:xfrm>
          <a:prstGeom prst="round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10149840" cy="424731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FFFFFF"/>
                </a:solidFill>
                <a:latin typeface="Consolas"/>
              </a:rPr>
              <a:t>  // Turn outputs OFF after 10 seconds
  if (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alarmStarted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 == true &amp;&amp;
  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millis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() -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alarmStartTime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 &gt;= 10000)
  {
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(LED_PIN, LOW);
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(BUZZER_PIN, LOW);
  }
  // Reset only after the sensor becomes dry
  if (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sensorValue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 &gt;= </a:t>
            </a:r>
            <a:r>
              <a:rPr lang="en-IN" sz="1500" b="0" dirty="0" smtClean="0">
                <a:solidFill>
                  <a:srgbClr val="FFFFFF"/>
                </a:solidFill>
                <a:latin typeface="Consolas"/>
              </a:rPr>
              <a:t>10</a:t>
            </a:r>
            <a:r>
              <a:rPr sz="1500" b="0" dirty="0" smtClean="0">
                <a:solidFill>
                  <a:srgbClr val="FFFFFF"/>
                </a:solidFill>
                <a:latin typeface="Consolas"/>
              </a:rPr>
              <a:t>00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)
  {
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alarmStarted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 = false;
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(LED_PIN, LOW);
   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digitalWrite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(BUZZER_PIN, LOW);
  }
  delay(100);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00600"/>
            <a:ext cx="5120640" cy="1051560"/>
          </a:xfrm>
          <a:prstGeom prst="roundRect">
            <a:avLst/>
          </a:prstGeom>
          <a:solidFill>
            <a:srgbClr val="DEEF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4928616"/>
            <a:ext cx="54864" cy="795527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96519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10,000 milliseconds = 10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422392"/>
            <a:ext cx="4736592" cy="3017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millis() measures elapsed time without blocking the sensor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800600"/>
            <a:ext cx="5120640" cy="1051560"/>
          </a:xfrm>
          <a:prstGeom prst="roundRect">
            <a:avLst/>
          </a:prstGeom>
          <a:solidFill>
            <a:srgbClr val="E2F6EE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4928616"/>
            <a:ext cx="54864" cy="795527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496519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Why use a state flag?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5422392"/>
            <a:ext cx="4736592" cy="3017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142"/>
                </a:solidFill>
                <a:latin typeface="Aptos"/>
              </a:rPr>
              <a:t>alarmStarted prevents the timer from restarting continuously while the sensor stays wet.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Calibrate and test the 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07 •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453895"/>
            <a:ext cx="54864" cy="1618487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1  DRY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47672"/>
            <a:ext cx="2999232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Upload the code. Open Serial Monitor and set baud rate to 9600. Record the dry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53895"/>
            <a:ext cx="54864" cy="1618487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2  WET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47672"/>
            <a:ext cx="2999232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Add a few drops of water to the sensing plate. Record the wet readings.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1453895"/>
            <a:ext cx="54864" cy="1618487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49047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6"/>
                </a:solidFill>
                <a:latin typeface="Aptos"/>
              </a:rPr>
              <a:t>3  SET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947672"/>
            <a:ext cx="2999232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Choose a value between the observed dry and wet readings. Example: 500 only if readings support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Illustrative readings only — your sensor may differ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4023360"/>
          <a:ext cx="104241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480560"/>
              </a:tblGrid>
              <a:tr h="441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 reading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If threshold is 500</a:t>
                      </a:r>
                    </a:p>
                  </a:txBody>
                  <a:tcPr>
                    <a:solidFill>
                      <a:srgbClr val="101F3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No alarm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Wet</a:t>
                      </a:r>
                    </a:p>
                  </a:txBody>
                  <a:tcPr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DEE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142"/>
                          </a:solidFill>
                          <a:latin typeface="Aptos"/>
                        </a:defRPr>
                      </a:pPr>
                      <a:r>
                        <a:t>Alarm starts</a:t>
                      </a:r>
                    </a:p>
                  </a:txBody>
                  <a:tcPr>
                    <a:solidFill>
                      <a:srgbClr val="DEEFFA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22960" y="5623560"/>
            <a:ext cx="10515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34F"/>
                </a:solidFill>
                <a:latin typeface="Aptos"/>
              </a:rPr>
              <a:t>If dry readings are also below 500, the alarm may trigger unexpectedly; adjust the threshold after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Expected result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07 •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234440"/>
            <a:ext cx="10149840" cy="713232"/>
          </a:xfrm>
          <a:prstGeom prst="roundRect">
            <a:avLst/>
          </a:prstGeom>
          <a:solidFill>
            <a:srgbClr val="DEEF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1362456"/>
            <a:ext cx="54864" cy="457200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399032"/>
            <a:ext cx="9784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856232"/>
            <a:ext cx="976579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LED OFF • Buzzer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30552"/>
            <a:ext cx="10149840" cy="713232"/>
          </a:xfrm>
          <a:prstGeom prst="roundRect">
            <a:avLst/>
          </a:prstGeom>
          <a:solidFill>
            <a:srgbClr val="E2F6EE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2258568"/>
            <a:ext cx="54864" cy="457200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295144"/>
            <a:ext cx="9784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WATER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752344"/>
            <a:ext cx="976579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LED ON • Buzzer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026664"/>
            <a:ext cx="10149840" cy="713232"/>
          </a:xfrm>
          <a:prstGeom prst="roundRect">
            <a:avLst/>
          </a:prstGeom>
          <a:solidFill>
            <a:srgbClr val="FFF5DE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3154680"/>
            <a:ext cx="54864" cy="457200"/>
          </a:xfrm>
          <a:prstGeom prst="rect">
            <a:avLst/>
          </a:prstGeom>
          <a:solidFill>
            <a:srgbClr val="F5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3191256"/>
            <a:ext cx="9784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AFTER 10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648456"/>
            <a:ext cx="976579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LED OFF • Buzzer 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922776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5840" y="4050791"/>
            <a:ext cx="54864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07008" y="4087368"/>
            <a:ext cx="9784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STILL WET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544568"/>
            <a:ext cx="976579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Alarm remains 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818888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5840" y="4946903"/>
            <a:ext cx="54864" cy="45720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4983479"/>
            <a:ext cx="9784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1F36"/>
                </a:solidFill>
                <a:latin typeface="Aptos"/>
              </a:rPr>
              <a:t>SENSOR DRIES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440679"/>
            <a:ext cx="976579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142"/>
                </a:solidFill>
                <a:latin typeface="Aptos"/>
              </a:rPr>
              <a:t>System rearms for next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6"/>
                </a:solidFill>
                <a:latin typeface="Aptos"/>
              </a:rPr>
              <a:t>Troubleshooting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49808" cy="50292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1148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E69BE"/>
                </a:solidFill>
                <a:latin typeface="Aptos"/>
              </a:rPr>
              <a:t>08 •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08176"/>
            <a:ext cx="54864" cy="402335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44751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F36"/>
                </a:solidFill>
                <a:latin typeface="Aptos"/>
              </a:rPr>
              <a:t>LED never 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371600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Check LED polarity, resistor, D8, and GND.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57984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54864" cy="402335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322576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F36"/>
                </a:solidFill>
                <a:latin typeface="Aptos"/>
              </a:rPr>
              <a:t>Buzzer stays silent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249424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Confirm active buzzer type, polarity, D3 and GND; test buzzer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35808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163824"/>
            <a:ext cx="54864" cy="402335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200400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F36"/>
                </a:solidFill>
                <a:latin typeface="Aptos"/>
              </a:rPr>
              <a:t>Alarm triggers while dry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27248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Read Serial Monitor and raise/lower threshold based on measured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1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041647"/>
            <a:ext cx="54864" cy="402335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078223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F36"/>
                </a:solidFill>
                <a:latin typeface="Aptos"/>
              </a:rPr>
              <a:t>Alarm never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005071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Check sensor AO → A0, sensor VCC/GND, and wet readings.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91456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919472"/>
            <a:ext cx="54864" cy="402335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4956048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F36"/>
                </a:solidFill>
                <a:latin typeface="Aptos"/>
              </a:rPr>
              <a:t>Switch not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882896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This version intentionally has no switch; it auto-silences after 10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ABED2"/>
                </a:solidFill>
                <a:latin typeface="Aptos"/>
              </a:rP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99669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Sense. Decide. Alert. Reset.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8755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3E2EE"/>
                </a:solidFill>
                <a:latin typeface="Aptos"/>
              </a:rPr>
              <a:t>The Arduino reads the rain sensor, activates a light and buzzer when the measured value crosses a calibrated threshold, and automatically silences the alarm after 10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3246120" cy="1234440"/>
          </a:xfrm>
          <a:prstGeom prst="roundRect">
            <a:avLst/>
          </a:prstGeom>
          <a:solidFill>
            <a:srgbClr val="1A304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968496"/>
            <a:ext cx="54864" cy="978408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005072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462272"/>
            <a:ext cx="286207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Rain sensor on A0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3246120" cy="1234440"/>
          </a:xfrm>
          <a:prstGeom prst="roundRect">
            <a:avLst/>
          </a:prstGeom>
          <a:solidFill>
            <a:srgbClr val="1A304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3968496"/>
            <a:ext cx="54864" cy="978408"/>
          </a:xfrm>
          <a:prstGeom prst="rect">
            <a:avLst/>
          </a:prstGeom>
          <a:solidFill>
            <a:srgbClr val="1E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4005072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4462272"/>
            <a:ext cx="286207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Threshold + timer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40480"/>
            <a:ext cx="3246120" cy="1234440"/>
          </a:xfrm>
          <a:prstGeom prst="roundRect">
            <a:avLst/>
          </a:prstGeom>
          <a:solidFill>
            <a:srgbClr val="1A304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3968496"/>
            <a:ext cx="54864" cy="978408"/>
          </a:xfrm>
          <a:prstGeom prst="rect">
            <a:avLst/>
          </a:prstGeom>
          <a:solidFill>
            <a:srgbClr val="27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4005072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4462272"/>
            <a:ext cx="286207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142"/>
                </a:solidFill>
                <a:latin typeface="Aptos"/>
              </a:rPr>
              <a:t>LED on D8 + buzzer 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0C6D9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08269" y="2688920"/>
            <a:ext cx="54864" cy="978408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4005072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4005072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6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5234" y="2836331"/>
            <a:ext cx="621334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dirty="0">
                <a:solidFill>
                  <a:srgbClr val="2ABED2"/>
                </a:solidFill>
                <a:latin typeface="Forte" pitchFamily="66" charset="0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0C6D9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E6F82"/>
                </a:solidFill>
                <a:latin typeface="Aptos"/>
              </a:rPr>
              <a:t>ARDUINO RAIN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2006941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1067</Words>
  <Application>Microsoft Office PowerPoint</Application>
  <PresentationFormat>Custom</PresentationFormat>
  <Paragraphs>203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Swasthik Swasthi</dc:creator>
  <dc:description>generated using python-pptx</dc:description>
  <cp:lastModifiedBy>DELL</cp:lastModifiedBy>
  <cp:revision>17</cp:revision>
  <dcterms:created xsi:type="dcterms:W3CDTF">2013-01-27T09:14:16Z</dcterms:created>
  <dcterms:modified xsi:type="dcterms:W3CDTF">2026-10-11T19:59:35Z</dcterms:modified>
</cp:coreProperties>
</file>